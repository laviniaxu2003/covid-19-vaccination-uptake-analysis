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4B4B"/>
    <a:srgbClr val="FFA550"/>
    <a:srgbClr val="BB55D4"/>
    <a:srgbClr val="ACD9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94"/>
  </p:normalViewPr>
  <p:slideViewPr>
    <p:cSldViewPr snapToGrid="0" snapToObjects="1" showGuides="1">
      <p:cViewPr>
        <p:scale>
          <a:sx n="15" d="100"/>
          <a:sy n="15" d="100"/>
        </p:scale>
        <p:origin x="2824" y="106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659109-57E6-F343-A187-F628B9F84400}" type="datetimeFigureOut">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765361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659109-57E6-F343-A187-F628B9F84400}" type="datetimeFigureOut">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1212474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659109-57E6-F343-A187-F628B9F84400}" type="datetimeFigureOut">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4146439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659109-57E6-F343-A187-F628B9F84400}" type="datetimeFigureOut">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3682881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659109-57E6-F343-A187-F628B9F84400}" type="datetimeFigureOut">
              <a:rPr lang="en-US" smtClean="0"/>
              <a:t>10/27/24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1489928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659109-57E6-F343-A187-F628B9F84400}" type="datetimeFigureOut">
              <a:rPr lang="en-US" smtClean="0"/>
              <a:t>10/27/24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1780345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659109-57E6-F343-A187-F628B9F84400}" type="datetimeFigureOut">
              <a:rPr lang="en-US" smtClean="0"/>
              <a:t>10/27/24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148908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5659109-57E6-F343-A187-F628B9F84400}" type="datetimeFigureOut">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1119004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5659109-57E6-F343-A187-F628B9F84400}" type="datetimeFigureOut">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3354556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659109-57E6-F343-A187-F628B9F84400}" type="datetimeFigureOut">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2737157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659109-57E6-F343-A187-F628B9F84400}" type="datetimeFigureOut">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9EFC8-489B-624F-8C86-57E048D864C5}" type="slidenum">
              <a:rPr lang="en-US" smtClean="0"/>
              <a:t>‹#›</a:t>
            </a:fld>
            <a:endParaRPr lang="en-US"/>
          </a:p>
        </p:txBody>
      </p:sp>
    </p:spTree>
    <p:extLst>
      <p:ext uri="{BB962C8B-B14F-4D97-AF65-F5344CB8AC3E}">
        <p14:creationId xmlns:p14="http://schemas.microsoft.com/office/powerpoint/2010/main" val="337985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 COLUMN -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1440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D5659109-57E6-F343-A187-F628B9F84400}" type="datetimeFigureOut">
              <a:rPr lang="en-US" smtClean="0"/>
              <a:t>10/27/24</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61D9EFC8-489B-624F-8C86-57E048D864C5}" type="slidenum">
              <a:rPr lang="en-US" smtClean="0"/>
              <a:t>‹#›</a:t>
            </a:fld>
            <a:endParaRPr lang="en-US"/>
          </a:p>
        </p:txBody>
      </p:sp>
    </p:spTree>
    <p:extLst>
      <p:ext uri="{BB962C8B-B14F-4D97-AF65-F5344CB8AC3E}">
        <p14:creationId xmlns:p14="http://schemas.microsoft.com/office/powerpoint/2010/main" val="225019541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6" r:id="rId12"/>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1" descr="A screenshot of a computer&#10;&#10;Description automatically generated">
            <a:extLst>
              <a:ext uri="{FF2B5EF4-FFF2-40B4-BE49-F238E27FC236}">
                <a16:creationId xmlns:a16="http://schemas.microsoft.com/office/drawing/2014/main" id="{3569A248-E9A8-CBEB-A5E8-20823A14292B}"/>
              </a:ext>
            </a:extLst>
          </p:cNvPr>
          <p:cNvPicPr>
            <a:picLocks noChangeAspect="1"/>
          </p:cNvPicPr>
          <p:nvPr/>
        </p:nvPicPr>
        <p:blipFill rotWithShape="1">
          <a:blip r:embed="rId2"/>
          <a:srcRect t="-724" b="-12752"/>
          <a:stretch/>
        </p:blipFill>
        <p:spPr>
          <a:xfrm>
            <a:off x="13653865" y="6747728"/>
            <a:ext cx="5394960" cy="7013447"/>
          </a:xfrm>
          <a:prstGeom prst="rect">
            <a:avLst/>
          </a:prstGeom>
        </p:spPr>
      </p:pic>
      <p:sp>
        <p:nvSpPr>
          <p:cNvPr id="67" name="Rectangle 66">
            <a:extLst>
              <a:ext uri="{FF2B5EF4-FFF2-40B4-BE49-F238E27FC236}">
                <a16:creationId xmlns:a16="http://schemas.microsoft.com/office/drawing/2014/main" id="{837D9810-AD94-C1AF-CCC4-20C23CB03D93}"/>
              </a:ext>
            </a:extLst>
          </p:cNvPr>
          <p:cNvSpPr/>
          <p:nvPr/>
        </p:nvSpPr>
        <p:spPr>
          <a:xfrm>
            <a:off x="13667660" y="6728264"/>
            <a:ext cx="5394960" cy="7013448"/>
          </a:xfrm>
          <a:prstGeom prst="rect">
            <a:avLst/>
          </a:prstGeom>
          <a:solidFill>
            <a:srgbClr val="ACD9E6">
              <a:alpha val="30000"/>
            </a:srgbClr>
          </a:solidFill>
          <a:ln>
            <a:solidFill>
              <a:srgbClr val="ACD9E6">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 name="Picture 1023" descr="A screenshot of a computer&#10;&#10;Description automatically generated">
            <a:extLst>
              <a:ext uri="{FF2B5EF4-FFF2-40B4-BE49-F238E27FC236}">
                <a16:creationId xmlns:a16="http://schemas.microsoft.com/office/drawing/2014/main" id="{2B99435A-16A4-E429-9A00-46B4D12F4955}"/>
              </a:ext>
            </a:extLst>
          </p:cNvPr>
          <p:cNvPicPr>
            <a:picLocks noChangeAspect="1"/>
          </p:cNvPicPr>
          <p:nvPr/>
        </p:nvPicPr>
        <p:blipFill rotWithShape="1">
          <a:blip r:embed="rId3"/>
          <a:srcRect t="1" b="-9572"/>
          <a:stretch/>
        </p:blipFill>
        <p:spPr>
          <a:xfrm>
            <a:off x="19245219" y="6767605"/>
            <a:ext cx="5394960" cy="7013447"/>
          </a:xfrm>
          <a:prstGeom prst="rect">
            <a:avLst/>
          </a:prstGeom>
        </p:spPr>
      </p:pic>
      <p:sp>
        <p:nvSpPr>
          <p:cNvPr id="68" name="Rectangle 67">
            <a:extLst>
              <a:ext uri="{FF2B5EF4-FFF2-40B4-BE49-F238E27FC236}">
                <a16:creationId xmlns:a16="http://schemas.microsoft.com/office/drawing/2014/main" id="{00C86110-F47C-B6EB-83F1-71479BA87CF0}"/>
              </a:ext>
            </a:extLst>
          </p:cNvPr>
          <p:cNvSpPr/>
          <p:nvPr/>
        </p:nvSpPr>
        <p:spPr>
          <a:xfrm>
            <a:off x="19248120" y="6728264"/>
            <a:ext cx="5394960" cy="7013448"/>
          </a:xfrm>
          <a:prstGeom prst="rect">
            <a:avLst/>
          </a:prstGeom>
          <a:solidFill>
            <a:srgbClr val="BB55D4">
              <a:alpha val="30000"/>
            </a:srgbClr>
          </a:solidFill>
          <a:ln>
            <a:solidFill>
              <a:srgbClr val="BB55D4">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0" name="Picture 59">
            <a:extLst>
              <a:ext uri="{FF2B5EF4-FFF2-40B4-BE49-F238E27FC236}">
                <a16:creationId xmlns:a16="http://schemas.microsoft.com/office/drawing/2014/main" id="{13EE46F0-33EB-3DEA-2797-402F51E58B9B}"/>
              </a:ext>
            </a:extLst>
          </p:cNvPr>
          <p:cNvPicPr>
            <a:picLocks/>
          </p:cNvPicPr>
          <p:nvPr/>
        </p:nvPicPr>
        <p:blipFill>
          <a:blip r:embed="rId4"/>
          <a:stretch>
            <a:fillRect/>
          </a:stretch>
        </p:blipFill>
        <p:spPr>
          <a:xfrm>
            <a:off x="24842375" y="6742151"/>
            <a:ext cx="5394960" cy="7013448"/>
          </a:xfrm>
          <a:prstGeom prst="rect">
            <a:avLst/>
          </a:prstGeom>
        </p:spPr>
      </p:pic>
      <p:sp>
        <p:nvSpPr>
          <p:cNvPr id="1025" name="Rectangle 1024">
            <a:extLst>
              <a:ext uri="{FF2B5EF4-FFF2-40B4-BE49-F238E27FC236}">
                <a16:creationId xmlns:a16="http://schemas.microsoft.com/office/drawing/2014/main" id="{D08EF9C8-9CD6-2BDD-BE6C-031DAD7DAD3A}"/>
              </a:ext>
            </a:extLst>
          </p:cNvPr>
          <p:cNvSpPr/>
          <p:nvPr/>
        </p:nvSpPr>
        <p:spPr>
          <a:xfrm>
            <a:off x="24859352" y="6728264"/>
            <a:ext cx="5394960" cy="7013448"/>
          </a:xfrm>
          <a:prstGeom prst="rect">
            <a:avLst/>
          </a:prstGeom>
          <a:solidFill>
            <a:srgbClr val="FFA550">
              <a:alpha val="30000"/>
            </a:srgbClr>
          </a:solidFill>
          <a:ln>
            <a:solidFill>
              <a:srgbClr val="ACD9E6">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graph of vaccination and vaccination uptake&#10;&#10;Description automatically generated">
            <a:extLst>
              <a:ext uri="{FF2B5EF4-FFF2-40B4-BE49-F238E27FC236}">
                <a16:creationId xmlns:a16="http://schemas.microsoft.com/office/drawing/2014/main" id="{6E1E4C39-425B-9A12-10BB-2EA132574141}"/>
              </a:ext>
            </a:extLst>
          </p:cNvPr>
          <p:cNvPicPr>
            <a:picLocks noChangeAspect="1"/>
          </p:cNvPicPr>
          <p:nvPr/>
        </p:nvPicPr>
        <p:blipFill>
          <a:blip r:embed="rId5"/>
          <a:stretch>
            <a:fillRect/>
          </a:stretch>
        </p:blipFill>
        <p:spPr>
          <a:xfrm>
            <a:off x="23796695" y="26148067"/>
            <a:ext cx="6375983" cy="4572000"/>
          </a:xfrm>
          <a:prstGeom prst="rect">
            <a:avLst/>
          </a:prstGeom>
        </p:spPr>
      </p:pic>
      <p:pic>
        <p:nvPicPr>
          <p:cNvPr id="16" name="Picture 15" descr="A graph of a vaccine&#10;&#10;Description automatically generated with medium confidence">
            <a:extLst>
              <a:ext uri="{FF2B5EF4-FFF2-40B4-BE49-F238E27FC236}">
                <a16:creationId xmlns:a16="http://schemas.microsoft.com/office/drawing/2014/main" id="{CEE44055-DB89-6C7E-AE93-DAE76B6D9F5E}"/>
              </a:ext>
            </a:extLst>
          </p:cNvPr>
          <p:cNvPicPr>
            <a:picLocks/>
          </p:cNvPicPr>
          <p:nvPr/>
        </p:nvPicPr>
        <p:blipFill rotWithShape="1">
          <a:blip r:embed="rId6"/>
          <a:srcRect t="982" r="22458"/>
          <a:stretch/>
        </p:blipFill>
        <p:spPr>
          <a:xfrm>
            <a:off x="18712706" y="26127468"/>
            <a:ext cx="5010912" cy="4572000"/>
          </a:xfrm>
          <a:prstGeom prst="rect">
            <a:avLst/>
          </a:prstGeom>
        </p:spPr>
      </p:pic>
      <p:pic>
        <p:nvPicPr>
          <p:cNvPr id="3" name="Picture 2" descr="A graph of vaccination&#10;&#10;Description automatically generated">
            <a:extLst>
              <a:ext uri="{FF2B5EF4-FFF2-40B4-BE49-F238E27FC236}">
                <a16:creationId xmlns:a16="http://schemas.microsoft.com/office/drawing/2014/main" id="{8AE94010-225D-D402-3846-F2050876CEC4}"/>
              </a:ext>
            </a:extLst>
          </p:cNvPr>
          <p:cNvPicPr>
            <a:picLocks noChangeAspect="1"/>
          </p:cNvPicPr>
          <p:nvPr/>
        </p:nvPicPr>
        <p:blipFill rotWithShape="1">
          <a:blip r:embed="rId7"/>
          <a:srcRect r="21664"/>
          <a:stretch/>
        </p:blipFill>
        <p:spPr>
          <a:xfrm>
            <a:off x="13714149" y="26127468"/>
            <a:ext cx="4925481" cy="4572000"/>
          </a:xfrm>
          <a:prstGeom prst="rect">
            <a:avLst/>
          </a:prstGeom>
        </p:spPr>
      </p:pic>
      <p:sp>
        <p:nvSpPr>
          <p:cNvPr id="5" name="Rectangle 4">
            <a:extLst>
              <a:ext uri="{FF2B5EF4-FFF2-40B4-BE49-F238E27FC236}">
                <a16:creationId xmlns:a16="http://schemas.microsoft.com/office/drawing/2014/main" id="{A1B2F3F4-09B0-AF43-99F4-57966F82DA2C}"/>
              </a:ext>
            </a:extLst>
          </p:cNvPr>
          <p:cNvSpPr/>
          <p:nvPr/>
        </p:nvSpPr>
        <p:spPr>
          <a:xfrm>
            <a:off x="1194055" y="5134936"/>
            <a:ext cx="11168061" cy="9963956"/>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6" name="Rectangle 5">
            <a:extLst>
              <a:ext uri="{FF2B5EF4-FFF2-40B4-BE49-F238E27FC236}">
                <a16:creationId xmlns:a16="http://schemas.microsoft.com/office/drawing/2014/main" id="{3BA2A88B-3360-5040-9003-E2372CDE5E46}"/>
              </a:ext>
            </a:extLst>
          </p:cNvPr>
          <p:cNvSpPr/>
          <p:nvPr/>
        </p:nvSpPr>
        <p:spPr>
          <a:xfrm>
            <a:off x="1194055" y="5150280"/>
            <a:ext cx="11168061"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Introduction</a:t>
            </a:r>
            <a:endParaRPr lang="en-US" sz="5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6B90A20-4E2F-9345-8389-3629C2404D3E}"/>
              </a:ext>
            </a:extLst>
          </p:cNvPr>
          <p:cNvSpPr txBox="1"/>
          <p:nvPr/>
        </p:nvSpPr>
        <p:spPr>
          <a:xfrm>
            <a:off x="1481137" y="6728264"/>
            <a:ext cx="10558463" cy="8056052"/>
          </a:xfrm>
          <a:prstGeom prst="rect">
            <a:avLst/>
          </a:prstGeom>
          <a:noFill/>
        </p:spPr>
        <p:txBody>
          <a:bodyPr wrap="square" rtlCol="0">
            <a:spAutoFit/>
          </a:bodyPr>
          <a:lstStyle/>
          <a:p>
            <a:pPr algn="just"/>
            <a:r>
              <a:rPr lang="en-US" sz="2670" dirty="0">
                <a:solidFill>
                  <a:srgbClr val="4B4B4B"/>
                </a:solidFill>
                <a:latin typeface="Arial" panose="020B0604020202020204" pitchFamily="34" charset="0"/>
                <a:cs typeface="Arial" panose="020B0604020202020204" pitchFamily="34" charset="0"/>
              </a:rPr>
              <a:t>	This study examines factors that influence COVID-19 vaccination uptake in the United States, using data from a September 2022 Pew Research Center survey. As vaccination rates play a crucial role in managing public health, understanding the demographic and social factors that drive vaccination behavior has become increasingly essential. Research suggests that trust in the perceived credibility of elected officials and scientists, and demographic influences like age, political beliefs, and religious affiliations are all important components shaping individuals' vaccination choices.</a:t>
            </a:r>
          </a:p>
          <a:p>
            <a:pPr algn="just"/>
            <a:r>
              <a:rPr lang="en-US" sz="2670" dirty="0">
                <a:solidFill>
                  <a:srgbClr val="4B4B4B"/>
                </a:solidFill>
                <a:latin typeface="Arial" panose="020B0604020202020204" pitchFamily="34" charset="0"/>
                <a:cs typeface="Arial" panose="020B0604020202020204" pitchFamily="34" charset="0"/>
              </a:rPr>
              <a:t>	To analyze the influences, we employed proportional odds model, a statistical approach well-suited to evaluating ordinal outcomes –– in this case, fully vaccinated, partially vaccinated, and unvaccinated groups. This model enables us to evaluate the associations between respondents' vaccination status and variables such as confidence in officials across different sectors while preserving the ordered nature of vaccination categories. By investigating various factors, this study aims to provide a comprehensive understanding of how public trust, personal beliefs, and demographic characteristics have an impact on vaccination behavior.</a:t>
            </a:r>
          </a:p>
        </p:txBody>
      </p:sp>
      <p:sp>
        <p:nvSpPr>
          <p:cNvPr id="8" name="Rectangle 7">
            <a:extLst>
              <a:ext uri="{FF2B5EF4-FFF2-40B4-BE49-F238E27FC236}">
                <a16:creationId xmlns:a16="http://schemas.microsoft.com/office/drawing/2014/main" id="{F6798962-C1C7-D04D-A223-75C1A115DA80}"/>
              </a:ext>
            </a:extLst>
          </p:cNvPr>
          <p:cNvSpPr/>
          <p:nvPr/>
        </p:nvSpPr>
        <p:spPr>
          <a:xfrm>
            <a:off x="1176340" y="15683999"/>
            <a:ext cx="11168061" cy="3738536"/>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9" name="Rectangle 8">
            <a:extLst>
              <a:ext uri="{FF2B5EF4-FFF2-40B4-BE49-F238E27FC236}">
                <a16:creationId xmlns:a16="http://schemas.microsoft.com/office/drawing/2014/main" id="{EC4A6358-4507-B847-8C53-A48D4ED9E51F}"/>
              </a:ext>
            </a:extLst>
          </p:cNvPr>
          <p:cNvSpPr/>
          <p:nvPr/>
        </p:nvSpPr>
        <p:spPr>
          <a:xfrm>
            <a:off x="1176340" y="15683999"/>
            <a:ext cx="11168061"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Research Goal</a:t>
            </a:r>
            <a:endParaRPr lang="en-US" sz="5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D29A58E-D562-F54D-B558-954C3CA12777}"/>
              </a:ext>
            </a:extLst>
          </p:cNvPr>
          <p:cNvSpPr txBox="1"/>
          <p:nvPr/>
        </p:nvSpPr>
        <p:spPr>
          <a:xfrm>
            <a:off x="1481137" y="17235213"/>
            <a:ext cx="10558464" cy="1735860"/>
          </a:xfrm>
          <a:prstGeom prst="rect">
            <a:avLst/>
          </a:prstGeom>
          <a:noFill/>
        </p:spPr>
        <p:txBody>
          <a:bodyPr wrap="square" rtlCol="0">
            <a:spAutoFit/>
          </a:bodyPr>
          <a:lstStyle/>
          <a:p>
            <a:pPr marL="457200" indent="-457200" algn="just">
              <a:buFont typeface="Arial" panose="020B0604020202020204" pitchFamily="34" charset="0"/>
              <a:buChar char="•"/>
            </a:pPr>
            <a:r>
              <a:rPr lang="en-US" sz="2670" dirty="0">
                <a:solidFill>
                  <a:srgbClr val="4B4B4B"/>
                </a:solidFill>
                <a:latin typeface="Arial" panose="020B0604020202020204" pitchFamily="34" charset="0"/>
                <a:cs typeface="Arial" panose="020B0604020202020204" pitchFamily="34" charset="0"/>
              </a:rPr>
              <a:t>To apply statistical modeling to identify key predictors of COVID-19 vaccination status</a:t>
            </a:r>
          </a:p>
          <a:p>
            <a:pPr marL="457200" indent="-457200" algn="just">
              <a:buFont typeface="Arial" panose="020B0604020202020204" pitchFamily="34" charset="0"/>
              <a:buChar char="•"/>
            </a:pPr>
            <a:r>
              <a:rPr lang="en-US" sz="2670" dirty="0">
                <a:solidFill>
                  <a:srgbClr val="4B4B4B"/>
                </a:solidFill>
                <a:latin typeface="Arial" panose="020B0604020202020204" pitchFamily="34" charset="0"/>
                <a:cs typeface="Arial" panose="020B0604020202020204" pitchFamily="34" charset="0"/>
              </a:rPr>
              <a:t>To generate insights that provide guidance on future public health strategies, aiming to enhance vaccination uptake</a:t>
            </a:r>
          </a:p>
        </p:txBody>
      </p:sp>
      <p:sp>
        <p:nvSpPr>
          <p:cNvPr id="11" name="Rectangle 10">
            <a:extLst>
              <a:ext uri="{FF2B5EF4-FFF2-40B4-BE49-F238E27FC236}">
                <a16:creationId xmlns:a16="http://schemas.microsoft.com/office/drawing/2014/main" id="{056CC652-4A5B-054C-B7C1-8A506A4D8DED}"/>
              </a:ext>
            </a:extLst>
          </p:cNvPr>
          <p:cNvSpPr/>
          <p:nvPr/>
        </p:nvSpPr>
        <p:spPr>
          <a:xfrm>
            <a:off x="1176340" y="20007642"/>
            <a:ext cx="11168061" cy="11310560"/>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12" name="Rectangle 11">
            <a:extLst>
              <a:ext uri="{FF2B5EF4-FFF2-40B4-BE49-F238E27FC236}">
                <a16:creationId xmlns:a16="http://schemas.microsoft.com/office/drawing/2014/main" id="{0639631C-08BB-0541-B861-34DFCCDB4FE0}"/>
              </a:ext>
            </a:extLst>
          </p:cNvPr>
          <p:cNvSpPr/>
          <p:nvPr/>
        </p:nvSpPr>
        <p:spPr>
          <a:xfrm>
            <a:off x="1176340" y="20007642"/>
            <a:ext cx="11168061"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Methods</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0FD8DF5-9B3B-8A44-AA28-70DEB4E46187}"/>
                  </a:ext>
                </a:extLst>
              </p:cNvPr>
              <p:cNvSpPr txBox="1"/>
              <p:nvPr/>
            </p:nvSpPr>
            <p:spPr>
              <a:xfrm>
                <a:off x="1481136" y="21385037"/>
                <a:ext cx="10558463" cy="10002225"/>
              </a:xfrm>
              <a:prstGeom prst="rect">
                <a:avLst/>
              </a:prstGeom>
              <a:noFill/>
            </p:spPr>
            <p:txBody>
              <a:bodyPr wrap="square" rtlCol="0">
                <a:spAutoFit/>
              </a:bodyPr>
              <a:lstStyle/>
              <a:p>
                <a:pPr algn="just"/>
                <a:r>
                  <a:rPr lang="en-US" sz="2800" dirty="0">
                    <a:solidFill>
                      <a:srgbClr val="4B4B4B"/>
                    </a:solidFill>
                  </a:rPr>
                  <a:t>	</a:t>
                </a:r>
                <a:r>
                  <a:rPr lang="en-US" sz="2670" b="1" i="1" dirty="0">
                    <a:solidFill>
                      <a:srgbClr val="4B4B4B"/>
                    </a:solidFill>
                    <a:latin typeface="Arial" panose="020B0604020202020204" pitchFamily="34" charset="0"/>
                    <a:cs typeface="Arial" panose="020B0604020202020204" pitchFamily="34" charset="0"/>
                  </a:rPr>
                  <a:t>Proportional odds model </a:t>
                </a:r>
                <a:r>
                  <a:rPr lang="en-US" sz="2670" dirty="0">
                    <a:solidFill>
                      <a:srgbClr val="4B4B4B"/>
                    </a:solidFill>
                    <a:latin typeface="Arial" panose="020B0604020202020204" pitchFamily="34" charset="0"/>
                    <a:cs typeface="Arial" panose="020B0604020202020204" pitchFamily="34" charset="0"/>
                  </a:rPr>
                  <a:t>is a statistical technique designed to analyze ordinal response variables, where the outcome has a natural order but unknown intervals between categories.</a:t>
                </a:r>
              </a:p>
              <a:p>
                <a:pPr algn="just"/>
                <a:r>
                  <a:rPr lang="en-US" sz="2667" dirty="0">
                    <a:solidFill>
                      <a:srgbClr val="4B4B4B"/>
                    </a:solidFill>
                    <a:latin typeface="Arial" panose="020B0604020202020204" pitchFamily="34" charset="0"/>
                    <a:cs typeface="Arial" panose="020B0604020202020204" pitchFamily="34" charset="0"/>
                  </a:rPr>
                  <a:t>	To understand the model algorithms for proportional odds model, we must first define logit. The </a:t>
                </a:r>
                <a:r>
                  <a:rPr lang="en-US" sz="2667" i="1" dirty="0">
                    <a:solidFill>
                      <a:srgbClr val="4B4B4B"/>
                    </a:solidFill>
                    <a:latin typeface="Arial" panose="020B0604020202020204" pitchFamily="34" charset="0"/>
                    <a:cs typeface="Arial" panose="020B0604020202020204" pitchFamily="34" charset="0"/>
                  </a:rPr>
                  <a:t>logit</a:t>
                </a:r>
                <a:r>
                  <a:rPr lang="en-US" sz="2667" dirty="0">
                    <a:solidFill>
                      <a:srgbClr val="4B4B4B"/>
                    </a:solidFill>
                    <a:latin typeface="Arial" panose="020B0604020202020204" pitchFamily="34" charset="0"/>
                    <a:cs typeface="Arial" panose="020B0604020202020204" pitchFamily="34" charset="0"/>
                  </a:rPr>
                  <a:t> is a transformation that represents the natural logarithm of the odds of a particular event occurring. In statistics, the logit function is used to map probabilities (ranging between 0 and 1) onto a continuous scale that spans from negative to positive infinity. The following equation depicts the probability </a:t>
                </a:r>
                <a:r>
                  <a:rPr lang="en-US" sz="2667" i="1" dirty="0">
                    <a:solidFill>
                      <a:srgbClr val="4B4B4B"/>
                    </a:solidFill>
                    <a:latin typeface="Arial" panose="020B0604020202020204" pitchFamily="34" charset="0"/>
                    <a:cs typeface="Arial" panose="020B0604020202020204" pitchFamily="34" charset="0"/>
                  </a:rPr>
                  <a:t>p</a:t>
                </a:r>
                <a:r>
                  <a:rPr lang="en-US" sz="2667" dirty="0">
                    <a:solidFill>
                      <a:srgbClr val="4B4B4B"/>
                    </a:solidFill>
                    <a:latin typeface="Arial" panose="020B0604020202020204" pitchFamily="34" charset="0"/>
                    <a:cs typeface="Arial" panose="020B0604020202020204" pitchFamily="34" charset="0"/>
                  </a:rPr>
                  <a:t> of an event occurring:</a:t>
                </a:r>
              </a:p>
              <a:p>
                <a:pPr algn="just"/>
                <a14:m>
                  <m:oMathPara xmlns:m="http://schemas.openxmlformats.org/officeDocument/2006/math">
                    <m:oMathParaPr>
                      <m:jc m:val="centerGroup"/>
                    </m:oMathParaPr>
                    <m:oMath xmlns:m="http://schemas.openxmlformats.org/officeDocument/2006/math">
                      <m:r>
                        <m:rPr>
                          <m:sty m:val="p"/>
                        </m:rPr>
                        <a:rPr lang="en-US" sz="2670" b="0" i="0" smtClean="0">
                          <a:solidFill>
                            <a:srgbClr val="4B4B4B"/>
                          </a:solidFill>
                          <a:latin typeface="Cambria Math" panose="02040503050406030204" pitchFamily="18" charset="0"/>
                        </a:rPr>
                        <m:t>logit</m:t>
                      </m:r>
                      <m:r>
                        <a:rPr lang="en-US" sz="2670" b="0" i="1" smtClean="0">
                          <a:solidFill>
                            <a:srgbClr val="4B4B4B"/>
                          </a:solidFill>
                          <a:latin typeface="Cambria Math" panose="02040503050406030204" pitchFamily="18" charset="0"/>
                        </a:rPr>
                        <m:t> </m:t>
                      </m:r>
                      <m:d>
                        <m:dPr>
                          <m:ctrlPr>
                            <a:rPr lang="en-US" sz="2670" b="0" i="1" smtClean="0">
                              <a:solidFill>
                                <a:srgbClr val="4B4B4B"/>
                              </a:solidFill>
                              <a:latin typeface="Cambria Math" panose="02040503050406030204" pitchFamily="18" charset="0"/>
                            </a:rPr>
                          </m:ctrlPr>
                        </m:dPr>
                        <m:e>
                          <m:r>
                            <a:rPr lang="en-US" sz="2670" b="0" i="1" smtClean="0">
                              <a:solidFill>
                                <a:srgbClr val="4B4B4B"/>
                              </a:solidFill>
                              <a:latin typeface="Cambria Math" panose="02040503050406030204" pitchFamily="18" charset="0"/>
                            </a:rPr>
                            <m:t>𝑝</m:t>
                          </m:r>
                        </m:e>
                      </m:d>
                      <m:r>
                        <a:rPr lang="en-US" sz="2670" b="0" i="1" smtClean="0">
                          <a:solidFill>
                            <a:srgbClr val="4B4B4B"/>
                          </a:solidFill>
                          <a:latin typeface="Cambria Math" panose="02040503050406030204" pitchFamily="18" charset="0"/>
                        </a:rPr>
                        <m:t>=</m:t>
                      </m:r>
                      <m:func>
                        <m:funcPr>
                          <m:ctrlPr>
                            <a:rPr lang="en-US" sz="2670" b="0" i="1" smtClean="0">
                              <a:solidFill>
                                <a:srgbClr val="4B4B4B"/>
                              </a:solidFill>
                              <a:latin typeface="Cambria Math" panose="02040503050406030204" pitchFamily="18" charset="0"/>
                            </a:rPr>
                          </m:ctrlPr>
                        </m:funcPr>
                        <m:fName>
                          <m:r>
                            <m:rPr>
                              <m:sty m:val="p"/>
                            </m:rPr>
                            <a:rPr lang="en-US" sz="2670" b="0" i="0" smtClean="0">
                              <a:solidFill>
                                <a:srgbClr val="4B4B4B"/>
                              </a:solidFill>
                              <a:latin typeface="Cambria Math" panose="02040503050406030204" pitchFamily="18" charset="0"/>
                            </a:rPr>
                            <m:t>log</m:t>
                          </m:r>
                          <m:r>
                            <a:rPr lang="en-US" sz="2670" b="0" i="0" smtClean="0">
                              <a:solidFill>
                                <a:srgbClr val="4B4B4B"/>
                              </a:solidFill>
                              <a:latin typeface="Cambria Math" panose="02040503050406030204" pitchFamily="18" charset="0"/>
                            </a:rPr>
                            <m:t> </m:t>
                          </m:r>
                        </m:fName>
                        <m:e>
                          <m:r>
                            <a:rPr lang="en-US" sz="2670" b="0" i="1" smtClean="0">
                              <a:solidFill>
                                <a:srgbClr val="4B4B4B"/>
                              </a:solidFill>
                              <a:latin typeface="Cambria Math" panose="02040503050406030204" pitchFamily="18" charset="0"/>
                            </a:rPr>
                            <m:t>( </m:t>
                          </m:r>
                          <m:f>
                            <m:fPr>
                              <m:ctrlPr>
                                <a:rPr lang="en-US" sz="2670" b="0" i="1" smtClean="0">
                                  <a:solidFill>
                                    <a:srgbClr val="4B4B4B"/>
                                  </a:solidFill>
                                  <a:latin typeface="Cambria Math" panose="02040503050406030204" pitchFamily="18" charset="0"/>
                                </a:rPr>
                              </m:ctrlPr>
                            </m:fPr>
                            <m:num>
                              <m:r>
                                <a:rPr lang="en-US" sz="2670" b="0" i="1" smtClean="0">
                                  <a:solidFill>
                                    <a:srgbClr val="4B4B4B"/>
                                  </a:solidFill>
                                  <a:latin typeface="Cambria Math" panose="02040503050406030204" pitchFamily="18" charset="0"/>
                                </a:rPr>
                                <m:t>𝑝</m:t>
                              </m:r>
                            </m:num>
                            <m:den>
                              <m:r>
                                <a:rPr lang="en-US" sz="2670" b="0" i="1" smtClean="0">
                                  <a:solidFill>
                                    <a:srgbClr val="4B4B4B"/>
                                  </a:solidFill>
                                  <a:latin typeface="Cambria Math" panose="02040503050406030204" pitchFamily="18" charset="0"/>
                                </a:rPr>
                                <m:t>1−</m:t>
                              </m:r>
                              <m:r>
                                <a:rPr lang="en-US" sz="2670" b="0" i="1" smtClean="0">
                                  <a:solidFill>
                                    <a:srgbClr val="4B4B4B"/>
                                  </a:solidFill>
                                  <a:latin typeface="Cambria Math" panose="02040503050406030204" pitchFamily="18" charset="0"/>
                                </a:rPr>
                                <m:t>𝑝</m:t>
                              </m:r>
                            </m:den>
                          </m:f>
                          <m:r>
                            <a:rPr lang="en-US" sz="2670" b="0" i="1" smtClean="0">
                              <a:solidFill>
                                <a:srgbClr val="4B4B4B"/>
                              </a:solidFill>
                              <a:latin typeface="Cambria Math" panose="02040503050406030204" pitchFamily="18" charset="0"/>
                            </a:rPr>
                            <m:t> )</m:t>
                          </m:r>
                        </m:e>
                      </m:func>
                    </m:oMath>
                  </m:oMathPara>
                </a14:m>
                <a:endParaRPr lang="en-US" sz="2670" dirty="0">
                  <a:solidFill>
                    <a:srgbClr val="4B4B4B"/>
                  </a:solidFill>
                  <a:latin typeface="Arial" panose="020B0604020202020204" pitchFamily="34" charset="0"/>
                  <a:cs typeface="Arial" panose="020B0604020202020204" pitchFamily="34" charset="0"/>
                </a:endParaRPr>
              </a:p>
              <a:p>
                <a:pPr algn="just"/>
                <a:r>
                  <a:rPr lang="en-US" sz="2670" dirty="0">
                    <a:solidFill>
                      <a:srgbClr val="4B4B4B"/>
                    </a:solidFill>
                    <a:latin typeface="Arial" panose="020B0604020202020204" pitchFamily="34" charset="0"/>
                    <a:cs typeface="Arial" panose="020B0604020202020204" pitchFamily="34" charset="0"/>
                  </a:rPr>
                  <a:t>	 Proportional odds model estimates a series of cumulative logits. For each category </a:t>
                </a:r>
                <a14:m>
                  <m:oMath xmlns:m="http://schemas.openxmlformats.org/officeDocument/2006/math">
                    <m:r>
                      <a:rPr lang="en-US" sz="2670" b="0" i="1" smtClean="0">
                        <a:solidFill>
                          <a:srgbClr val="4B4B4B"/>
                        </a:solidFill>
                        <a:latin typeface="Cambria Math" panose="02040503050406030204" pitchFamily="18" charset="0"/>
                        <a:cs typeface="Arial" panose="020B0604020202020204" pitchFamily="34" charset="0"/>
                      </a:rPr>
                      <m:t>𝑗</m:t>
                    </m:r>
                    <m:r>
                      <a:rPr lang="en-US" sz="2670" b="0" i="1" smtClean="0">
                        <a:solidFill>
                          <a:srgbClr val="4B4B4B"/>
                        </a:solidFill>
                        <a:latin typeface="Cambria Math" panose="02040503050406030204" pitchFamily="18" charset="0"/>
                        <a:cs typeface="Arial" panose="020B0604020202020204" pitchFamily="34" charset="0"/>
                      </a:rPr>
                      <m:t> </m:t>
                    </m:r>
                  </m:oMath>
                </a14:m>
                <a:r>
                  <a:rPr lang="en-US" sz="2670" dirty="0">
                    <a:solidFill>
                      <a:srgbClr val="4B4B4B"/>
                    </a:solidFill>
                    <a:latin typeface="Arial" panose="020B0604020202020204" pitchFamily="34" charset="0"/>
                    <a:cs typeface="Arial" panose="020B0604020202020204" pitchFamily="34" charset="0"/>
                  </a:rPr>
                  <a:t>of the response variable </a:t>
                </a:r>
                <a14:m>
                  <m:oMath xmlns:m="http://schemas.openxmlformats.org/officeDocument/2006/math">
                    <m:r>
                      <a:rPr lang="en-US" sz="2670" b="0" i="1" smtClean="0">
                        <a:solidFill>
                          <a:srgbClr val="4B4B4B"/>
                        </a:solidFill>
                        <a:latin typeface="Cambria Math" panose="02040503050406030204" pitchFamily="18" charset="0"/>
                        <a:cs typeface="Arial" panose="020B0604020202020204" pitchFamily="34" charset="0"/>
                      </a:rPr>
                      <m:t>𝑌</m:t>
                    </m:r>
                  </m:oMath>
                </a14:m>
                <a:r>
                  <a:rPr lang="en-US" sz="2670" dirty="0">
                    <a:solidFill>
                      <a:srgbClr val="4B4B4B"/>
                    </a:solidFill>
                    <a:latin typeface="Arial" panose="020B0604020202020204" pitchFamily="34" charset="0"/>
                    <a:cs typeface="Arial" panose="020B0604020202020204" pitchFamily="34" charset="0"/>
                  </a:rPr>
                  <a:t>, the model calculates the cumulative probability of being in that category or lower. These probabilities are then linked to predictor variables </a:t>
                </a:r>
                <a14:m>
                  <m:oMath xmlns:m="http://schemas.openxmlformats.org/officeDocument/2006/math">
                    <m:r>
                      <a:rPr lang="en-US" sz="2670" b="1" i="1" smtClean="0">
                        <a:solidFill>
                          <a:srgbClr val="4B4B4B"/>
                        </a:solidFill>
                        <a:latin typeface="Cambria Math" panose="02040503050406030204" pitchFamily="18" charset="0"/>
                        <a:cs typeface="Arial" panose="020B0604020202020204" pitchFamily="34" charset="0"/>
                      </a:rPr>
                      <m:t>𝒙</m:t>
                    </m:r>
                    <m:r>
                      <a:rPr lang="en-US" sz="2670" b="0" i="1" smtClean="0">
                        <a:solidFill>
                          <a:srgbClr val="4B4B4B"/>
                        </a:solidFill>
                        <a:latin typeface="Cambria Math" panose="02040503050406030204" pitchFamily="18" charset="0"/>
                        <a:cs typeface="Arial" panose="020B0604020202020204" pitchFamily="34" charset="0"/>
                      </a:rPr>
                      <m:t> </m:t>
                    </m:r>
                  </m:oMath>
                </a14:m>
                <a:r>
                  <a:rPr lang="en-US" sz="2670" dirty="0">
                    <a:solidFill>
                      <a:srgbClr val="4B4B4B"/>
                    </a:solidFill>
                    <a:latin typeface="Arial" panose="020B0604020202020204" pitchFamily="34" charset="0"/>
                    <a:cs typeface="Arial" panose="020B0604020202020204" pitchFamily="34" charset="0"/>
                  </a:rPr>
                  <a:t>through a logistic function. In its mathematical form, the model estimates:</a:t>
                </a:r>
              </a:p>
              <a:p>
                <a:pPr algn="ctr"/>
                <a14:m>
                  <m:oMathPara xmlns:m="http://schemas.openxmlformats.org/officeDocument/2006/math">
                    <m:oMathParaPr>
                      <m:jc m:val="centerGroup"/>
                    </m:oMathParaPr>
                    <m:oMath xmlns:m="http://schemas.openxmlformats.org/officeDocument/2006/math">
                      <m:r>
                        <m:rPr>
                          <m:sty m:val="p"/>
                        </m:rPr>
                        <a:rPr lang="en-US" sz="2670" b="0" i="0" smtClean="0">
                          <a:solidFill>
                            <a:srgbClr val="4B4B4B"/>
                          </a:solidFill>
                          <a:latin typeface="Cambria Math" panose="02040503050406030204" pitchFamily="18" charset="0"/>
                          <a:cs typeface="Arial" panose="020B0604020202020204" pitchFamily="34" charset="0"/>
                        </a:rPr>
                        <m:t>logit</m:t>
                      </m:r>
                      <m:r>
                        <a:rPr lang="en-US" sz="2670" b="0" i="1" smtClean="0">
                          <a:solidFill>
                            <a:srgbClr val="4B4B4B"/>
                          </a:solidFill>
                          <a:latin typeface="Cambria Math" panose="02040503050406030204" pitchFamily="18" charset="0"/>
                          <a:cs typeface="Arial" panose="020B0604020202020204" pitchFamily="34" charset="0"/>
                        </a:rPr>
                        <m:t> </m:t>
                      </m:r>
                      <m:d>
                        <m:dPr>
                          <m:begChr m:val="["/>
                          <m:endChr m:val="]"/>
                          <m:ctrlPr>
                            <a:rPr lang="en-US" sz="2670" b="0" i="1" smtClean="0">
                              <a:solidFill>
                                <a:srgbClr val="4B4B4B"/>
                              </a:solidFill>
                              <a:latin typeface="Cambria Math" panose="02040503050406030204" pitchFamily="18" charset="0"/>
                              <a:cs typeface="Arial" panose="020B0604020202020204" pitchFamily="34" charset="0"/>
                            </a:rPr>
                          </m:ctrlPr>
                        </m:dPr>
                        <m:e>
                          <m:r>
                            <a:rPr lang="en-US" sz="2670" b="0" i="1" smtClean="0">
                              <a:solidFill>
                                <a:srgbClr val="4B4B4B"/>
                              </a:solidFill>
                              <a:latin typeface="Cambria Math" panose="02040503050406030204" pitchFamily="18" charset="0"/>
                              <a:cs typeface="Arial" panose="020B0604020202020204" pitchFamily="34" charset="0"/>
                            </a:rPr>
                            <m:t>𝑃</m:t>
                          </m:r>
                          <m:d>
                            <m:dPr>
                              <m:ctrlPr>
                                <a:rPr lang="en-US" sz="2670" b="0" i="1" smtClean="0">
                                  <a:solidFill>
                                    <a:srgbClr val="4B4B4B"/>
                                  </a:solidFill>
                                  <a:latin typeface="Cambria Math" panose="02040503050406030204" pitchFamily="18" charset="0"/>
                                  <a:cs typeface="Arial" panose="020B0604020202020204" pitchFamily="34" charset="0"/>
                                </a:rPr>
                              </m:ctrlPr>
                            </m:dPr>
                            <m:e>
                              <m:r>
                                <a:rPr lang="en-US" sz="2670" b="0" i="1" smtClean="0">
                                  <a:solidFill>
                                    <a:srgbClr val="4B4B4B"/>
                                  </a:solidFill>
                                  <a:latin typeface="Cambria Math" panose="02040503050406030204" pitchFamily="18" charset="0"/>
                                  <a:cs typeface="Arial" panose="020B0604020202020204" pitchFamily="34" charset="0"/>
                                </a:rPr>
                                <m:t>𝑌</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𝑗</m:t>
                              </m:r>
                            </m:e>
                          </m:d>
                        </m:e>
                      </m:d>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func>
                        <m:func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sz="2670" b="0" i="0"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log</m:t>
                          </m:r>
                        </m:fName>
                        <m:e>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 ( </m:t>
                          </m:r>
                          <m:f>
                            <m:f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fPr>
                            <m:num>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dPr>
                                <m:e>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𝑌</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𝑗</m:t>
                                  </m:r>
                                </m:e>
                              </m:d>
                            </m:num>
                            <m:den>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dPr>
                                <m:e>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𝑌</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&gt;</m:t>
                                  </m:r>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𝑗</m:t>
                                  </m:r>
                                </m:e>
                              </m:d>
                            </m:den>
                          </m:f>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 )</m:t>
                          </m:r>
                        </m:e>
                      </m:func>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sSubPr>
                        <m:e>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𝛼</m:t>
                          </m:r>
                        </m:e>
                        <m:sub>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𝑗</m:t>
                          </m:r>
                        </m:sub>
                      </m:sSub>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ctrlPr>
                        </m:sSupPr>
                        <m:e>
                          <m:r>
                            <a:rPr lang="en-US" sz="2670" b="1"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𝜷</m:t>
                          </m:r>
                        </m:e>
                        <m:sup>
                          <m:r>
                            <a:rPr lang="en-US" sz="2670" b="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sup>
                      </m:sSup>
                      <m:r>
                        <a:rPr lang="en-US" sz="2670" b="1"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𝒙</m:t>
                      </m:r>
                      <m:r>
                        <a:rPr lang="en-US" sz="2670" b="0" i="0"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2670" b="0" dirty="0">
                  <a:solidFill>
                    <a:srgbClr val="4B4B4B"/>
                  </a:solidFill>
                  <a:latin typeface="Arial" panose="020B0604020202020204" pitchFamily="34" charset="0"/>
                  <a:ea typeface="Cambria Math" panose="02040503050406030204" pitchFamily="18" charset="0"/>
                  <a:cs typeface="Arial" panose="020B0604020202020204" pitchFamily="34" charset="0"/>
                </a:endParaRPr>
              </a:p>
              <a:p>
                <a:pPr algn="just"/>
                <a:r>
                  <a:rPr lang="en-US" sz="2670" dirty="0">
                    <a:solidFill>
                      <a:srgbClr val="4B4B4B"/>
                    </a:solidFill>
                    <a:latin typeface="Arial" panose="020B0604020202020204" pitchFamily="34" charset="0"/>
                    <a:cs typeface="Arial" panose="020B0604020202020204" pitchFamily="34" charset="0"/>
                  </a:rPr>
                  <a:t>where </a:t>
                </a:r>
                <a14:m>
                  <m:oMath xmlns:m="http://schemas.openxmlformats.org/officeDocument/2006/math">
                    <m:sSub>
                      <m:sSubPr>
                        <m:ctrlPr>
                          <a:rPr lang="en-US" sz="2670" i="1" smtClean="0">
                            <a:solidFill>
                              <a:srgbClr val="4B4B4B"/>
                            </a:solidFill>
                            <a:latin typeface="Cambria Math" panose="02040503050406030204" pitchFamily="18" charset="0"/>
                            <a:cs typeface="Arial" panose="020B0604020202020204" pitchFamily="34" charset="0"/>
                          </a:rPr>
                        </m:ctrlPr>
                      </m:sSubPr>
                      <m:e>
                        <m:r>
                          <a:rPr lang="en-US" sz="2670"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𝛼</m:t>
                        </m:r>
                      </m:e>
                      <m:sub>
                        <m:r>
                          <a:rPr lang="en-US" sz="2670" b="0" i="1" smtClean="0">
                            <a:solidFill>
                              <a:srgbClr val="4B4B4B"/>
                            </a:solidFill>
                            <a:latin typeface="Cambria Math" panose="02040503050406030204" pitchFamily="18" charset="0"/>
                            <a:cs typeface="Arial" panose="020B0604020202020204" pitchFamily="34" charset="0"/>
                          </a:rPr>
                          <m:t>𝑗</m:t>
                        </m:r>
                      </m:sub>
                    </m:sSub>
                  </m:oMath>
                </a14:m>
                <a:r>
                  <a:rPr lang="en-US" sz="2670" dirty="0">
                    <a:solidFill>
                      <a:srgbClr val="4B4B4B"/>
                    </a:solidFill>
                    <a:latin typeface="Arial" panose="020B0604020202020204" pitchFamily="34" charset="0"/>
                    <a:cs typeface="Arial" panose="020B0604020202020204" pitchFamily="34" charset="0"/>
                  </a:rPr>
                  <a:t> are intercepts for each category and </a:t>
                </a:r>
                <a14:m>
                  <m:oMath xmlns:m="http://schemas.openxmlformats.org/officeDocument/2006/math">
                    <m:r>
                      <a:rPr lang="en-US" sz="2670" b="1" i="1" smtClean="0">
                        <a:solidFill>
                          <a:srgbClr val="4B4B4B"/>
                        </a:solidFill>
                        <a:latin typeface="Cambria Math" panose="02040503050406030204" pitchFamily="18" charset="0"/>
                        <a:ea typeface="Cambria Math" panose="02040503050406030204" pitchFamily="18" charset="0"/>
                        <a:cs typeface="Arial" panose="020B0604020202020204" pitchFamily="34" charset="0"/>
                      </a:rPr>
                      <m:t>𝜷</m:t>
                    </m:r>
                  </m:oMath>
                </a14:m>
                <a:r>
                  <a:rPr lang="en-US" sz="2670" b="1" dirty="0">
                    <a:solidFill>
                      <a:srgbClr val="4B4B4B"/>
                    </a:solidFill>
                    <a:latin typeface="Arial" panose="020B0604020202020204" pitchFamily="34" charset="0"/>
                    <a:cs typeface="Arial" panose="020B0604020202020204" pitchFamily="34" charset="0"/>
                  </a:rPr>
                  <a:t> </a:t>
                </a:r>
                <a:r>
                  <a:rPr lang="en-US" sz="2670" dirty="0">
                    <a:solidFill>
                      <a:srgbClr val="4B4B4B"/>
                    </a:solidFill>
                    <a:latin typeface="Arial" panose="020B0604020202020204" pitchFamily="34" charset="0"/>
                    <a:cs typeface="Arial" panose="020B0604020202020204" pitchFamily="34" charset="0"/>
                  </a:rPr>
                  <a:t>represents the co-</a:t>
                </a:r>
                <a:r>
                  <a:rPr lang="en-US" sz="2670" dirty="0" err="1">
                    <a:solidFill>
                      <a:srgbClr val="4B4B4B"/>
                    </a:solidFill>
                    <a:latin typeface="Arial" panose="020B0604020202020204" pitchFamily="34" charset="0"/>
                    <a:cs typeface="Arial" panose="020B0604020202020204" pitchFamily="34" charset="0"/>
                  </a:rPr>
                  <a:t>efficients</a:t>
                </a:r>
                <a:r>
                  <a:rPr lang="en-US" sz="2670" dirty="0">
                    <a:solidFill>
                      <a:srgbClr val="4B4B4B"/>
                    </a:solidFill>
                    <a:latin typeface="Arial" panose="020B0604020202020204" pitchFamily="34" charset="0"/>
                    <a:cs typeface="Arial" panose="020B0604020202020204" pitchFamily="34" charset="0"/>
                  </a:rPr>
                  <a:t> for predictor variables.</a:t>
                </a:r>
              </a:p>
              <a:p>
                <a:pPr algn="just"/>
                <a:r>
                  <a:rPr lang="en-US" sz="2670" dirty="0">
                    <a:solidFill>
                      <a:srgbClr val="4B4B4B"/>
                    </a:solidFill>
                    <a:latin typeface="Arial" panose="020B0604020202020204" pitchFamily="34" charset="0"/>
                    <a:cs typeface="Arial" panose="020B0604020202020204" pitchFamily="34" charset="0"/>
                  </a:rPr>
                  <a:t>	One key assumption that the model relies on is </a:t>
                </a:r>
                <a:r>
                  <a:rPr lang="en-US" sz="2670" i="1" dirty="0">
                    <a:solidFill>
                      <a:srgbClr val="4B4B4B"/>
                    </a:solidFill>
                    <a:latin typeface="Arial" panose="020B0604020202020204" pitchFamily="34" charset="0"/>
                    <a:cs typeface="Arial" panose="020B0604020202020204" pitchFamily="34" charset="0"/>
                  </a:rPr>
                  <a:t>Proportional Odds Assumption</a:t>
                </a:r>
                <a:r>
                  <a:rPr lang="en-US" sz="2670" dirty="0">
                    <a:solidFill>
                      <a:srgbClr val="4B4B4B"/>
                    </a:solidFill>
                    <a:latin typeface="Arial" panose="020B0604020202020204" pitchFamily="34" charset="0"/>
                    <a:cs typeface="Arial" panose="020B0604020202020204" pitchFamily="34" charset="0"/>
                  </a:rPr>
                  <a:t>, stating that the effect of predictor variables on the odds is consistent across all levels of the ordinal outcome.</a:t>
                </a:r>
                <a:endParaRPr lang="en-US" sz="2670" i="1" dirty="0">
                  <a:solidFill>
                    <a:srgbClr val="4B4B4B"/>
                  </a:solidFill>
                  <a:latin typeface="Arial" panose="020B0604020202020204" pitchFamily="34" charset="0"/>
                  <a:cs typeface="Arial" panose="020B0604020202020204" pitchFamily="34" charset="0"/>
                </a:endParaRPr>
              </a:p>
            </p:txBody>
          </p:sp>
        </mc:Choice>
        <mc:Fallback>
          <p:sp>
            <p:nvSpPr>
              <p:cNvPr id="13" name="TextBox 12">
                <a:extLst>
                  <a:ext uri="{FF2B5EF4-FFF2-40B4-BE49-F238E27FC236}">
                    <a16:creationId xmlns:a16="http://schemas.microsoft.com/office/drawing/2014/main" id="{50FD8DF5-9B3B-8A44-AA28-70DEB4E46187}"/>
                  </a:ext>
                </a:extLst>
              </p:cNvPr>
              <p:cNvSpPr txBox="1">
                <a:spLocks noRot="1" noChangeAspect="1" noMove="1" noResize="1" noEditPoints="1" noAdjustHandles="1" noChangeArrowheads="1" noChangeShapeType="1" noTextEdit="1"/>
              </p:cNvSpPr>
              <p:nvPr/>
            </p:nvSpPr>
            <p:spPr>
              <a:xfrm>
                <a:off x="1481136" y="21385037"/>
                <a:ext cx="10558463" cy="10002225"/>
              </a:xfrm>
              <a:prstGeom prst="rect">
                <a:avLst/>
              </a:prstGeom>
              <a:blipFill>
                <a:blip r:embed="rId8"/>
                <a:stretch>
                  <a:fillRect l="-1080" t="-507" r="-1080" b="-634"/>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0847A8CC-451A-FF4D-A992-5AA8F5046E6F}"/>
              </a:ext>
            </a:extLst>
          </p:cNvPr>
          <p:cNvSpPr/>
          <p:nvPr/>
        </p:nvSpPr>
        <p:spPr>
          <a:xfrm>
            <a:off x="13349414" y="5134936"/>
            <a:ext cx="17210087" cy="26183266"/>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15" name="Rectangle 14">
            <a:extLst>
              <a:ext uri="{FF2B5EF4-FFF2-40B4-BE49-F238E27FC236}">
                <a16:creationId xmlns:a16="http://schemas.microsoft.com/office/drawing/2014/main" id="{6E1D1C45-5D5B-AE41-90A5-588D8661AF6B}"/>
              </a:ext>
            </a:extLst>
          </p:cNvPr>
          <p:cNvSpPr/>
          <p:nvPr/>
        </p:nvSpPr>
        <p:spPr>
          <a:xfrm>
            <a:off x="13349414" y="5150280"/>
            <a:ext cx="17210087"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Results</a:t>
            </a:r>
            <a:endParaRPr lang="en-US" sz="50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4FF718D-5147-DC4F-BA2F-D53A6E71E851}"/>
              </a:ext>
            </a:extLst>
          </p:cNvPr>
          <p:cNvSpPr/>
          <p:nvPr/>
        </p:nvSpPr>
        <p:spPr>
          <a:xfrm>
            <a:off x="31546797" y="5134936"/>
            <a:ext cx="11168064" cy="9963956"/>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18" name="Rectangle 17">
            <a:extLst>
              <a:ext uri="{FF2B5EF4-FFF2-40B4-BE49-F238E27FC236}">
                <a16:creationId xmlns:a16="http://schemas.microsoft.com/office/drawing/2014/main" id="{138EC08D-F3CB-A243-A37D-C070C1327C62}"/>
              </a:ext>
            </a:extLst>
          </p:cNvPr>
          <p:cNvSpPr/>
          <p:nvPr/>
        </p:nvSpPr>
        <p:spPr>
          <a:xfrm>
            <a:off x="31546797" y="5150280"/>
            <a:ext cx="11168064"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Conclusion</a:t>
            </a:r>
            <a:endParaRPr lang="en-US" sz="5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872CFE89-0E27-8F41-8E99-EA630A86D407}"/>
              </a:ext>
            </a:extLst>
          </p:cNvPr>
          <p:cNvSpPr txBox="1"/>
          <p:nvPr/>
        </p:nvSpPr>
        <p:spPr>
          <a:xfrm>
            <a:off x="31847883" y="6662278"/>
            <a:ext cx="10562180" cy="7488204"/>
          </a:xfrm>
          <a:prstGeom prst="rect">
            <a:avLst/>
          </a:prstGeom>
          <a:noFill/>
        </p:spPr>
        <p:txBody>
          <a:bodyPr wrap="square" rtlCol="0">
            <a:spAutoFit/>
          </a:bodyPr>
          <a:lstStyle/>
          <a:p>
            <a:pPr algn="just"/>
            <a:r>
              <a:rPr lang="en-US" sz="2670" dirty="0">
                <a:solidFill>
                  <a:srgbClr val="4B4B4B"/>
                </a:solidFill>
                <a:latin typeface="Arial" panose="020B0604020202020204" pitchFamily="34" charset="0"/>
                <a:cs typeface="Arial" panose="020B0604020202020204" pitchFamily="34" charset="0"/>
              </a:rPr>
              <a:t>	This study underscores the importance of public trust in scientific, educational, and government authorities in promoting COVID-19 vaccination uptake in the United States. Confidence in scientists, or more specifically medical scientists, appeared to be the most influential factor, with higher trust correlating with a profoundly greater likelihood of vaccination. Demographic factors, including age, religious affiliation, political beliefs, and gender, also showed statis-tical significance for impacting vaccination status.</a:t>
            </a:r>
          </a:p>
          <a:p>
            <a:pPr algn="just"/>
            <a:r>
              <a:rPr lang="en-US" sz="2670" dirty="0">
                <a:solidFill>
                  <a:srgbClr val="4B4B4B"/>
                </a:solidFill>
                <a:latin typeface="Arial" panose="020B0604020202020204" pitchFamily="34" charset="0"/>
                <a:cs typeface="Arial" panose="020B0604020202020204" pitchFamily="34" charset="0"/>
              </a:rPr>
              <a:t>	The findings suggest that building and maintaining public trust in scientific institutions is crucial not only for current vaccination efforts but also for future public health initiatives. Policymakers may want to prioritize transparent, science-based communication and engage trusted community leaders to bridge gaps in trust. Additionally, efforts to depoliticize health messaging and foster bipartisan support for science could improve vaccine acceptance across diverse groups. By addressing both trust and demographic influences, public health strategies can better promote vaccination rate and prepare for future health challenges in a polarized environment.</a:t>
            </a:r>
          </a:p>
        </p:txBody>
      </p:sp>
      <p:sp>
        <p:nvSpPr>
          <p:cNvPr id="20" name="Rectangle 19">
            <a:extLst>
              <a:ext uri="{FF2B5EF4-FFF2-40B4-BE49-F238E27FC236}">
                <a16:creationId xmlns:a16="http://schemas.microsoft.com/office/drawing/2014/main" id="{36CCAA2E-E485-8344-A536-7BD3970D2820}"/>
              </a:ext>
            </a:extLst>
          </p:cNvPr>
          <p:cNvSpPr/>
          <p:nvPr/>
        </p:nvSpPr>
        <p:spPr>
          <a:xfrm>
            <a:off x="31544941" y="23355828"/>
            <a:ext cx="11168064" cy="4151437"/>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21" name="Rectangle 20">
            <a:extLst>
              <a:ext uri="{FF2B5EF4-FFF2-40B4-BE49-F238E27FC236}">
                <a16:creationId xmlns:a16="http://schemas.microsoft.com/office/drawing/2014/main" id="{59430B91-8AA9-6348-80F6-DF385B5A1F00}"/>
              </a:ext>
            </a:extLst>
          </p:cNvPr>
          <p:cNvSpPr/>
          <p:nvPr/>
        </p:nvSpPr>
        <p:spPr>
          <a:xfrm>
            <a:off x="31544941" y="23355828"/>
            <a:ext cx="11168064"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Acknowledgments</a:t>
            </a:r>
            <a:endParaRPr lang="en-US" sz="50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1A8FFCE5-9811-C541-BAEF-E61E890EBD22}"/>
              </a:ext>
            </a:extLst>
          </p:cNvPr>
          <p:cNvSpPr txBox="1"/>
          <p:nvPr/>
        </p:nvSpPr>
        <p:spPr>
          <a:xfrm>
            <a:off x="31847883" y="24733606"/>
            <a:ext cx="10562181" cy="2557623"/>
          </a:xfrm>
          <a:prstGeom prst="rect">
            <a:avLst/>
          </a:prstGeom>
          <a:noFill/>
        </p:spPr>
        <p:txBody>
          <a:bodyPr wrap="square" rtlCol="0">
            <a:spAutoFit/>
          </a:bodyPr>
          <a:lstStyle/>
          <a:p>
            <a:pPr algn="just"/>
            <a:r>
              <a:rPr lang="en-US" sz="2670" dirty="0">
                <a:solidFill>
                  <a:srgbClr val="4B4B4B"/>
                </a:solidFill>
                <a:latin typeface="Arial" panose="020B0604020202020204" pitchFamily="34" charset="0"/>
                <a:cs typeface="Arial" panose="020B0604020202020204" pitchFamily="34" charset="0"/>
              </a:rPr>
              <a:t>	I would like to express my deepest gratitude to Professor Jimin Ding for her invaluable guidance, support, and insights throughout this research process. Her mentorship has been instrumental in shaping my understanding and approach. I am also deeply thankful to everyone who offered their support and encouragement along the way—your kindness made this journey possible.</a:t>
            </a:r>
          </a:p>
        </p:txBody>
      </p:sp>
      <p:sp>
        <p:nvSpPr>
          <p:cNvPr id="23" name="Rectangle 22">
            <a:extLst>
              <a:ext uri="{FF2B5EF4-FFF2-40B4-BE49-F238E27FC236}">
                <a16:creationId xmlns:a16="http://schemas.microsoft.com/office/drawing/2014/main" id="{B2AE2714-85D6-9141-8BE7-6A70A37DE111}"/>
              </a:ext>
            </a:extLst>
          </p:cNvPr>
          <p:cNvSpPr/>
          <p:nvPr/>
        </p:nvSpPr>
        <p:spPr>
          <a:xfrm>
            <a:off x="31546796" y="28042599"/>
            <a:ext cx="11168064" cy="3275602"/>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24" name="Rectangle 23">
            <a:extLst>
              <a:ext uri="{FF2B5EF4-FFF2-40B4-BE49-F238E27FC236}">
                <a16:creationId xmlns:a16="http://schemas.microsoft.com/office/drawing/2014/main" id="{13D96B68-D54A-5A40-A6AC-3E453DB8FF98}"/>
              </a:ext>
            </a:extLst>
          </p:cNvPr>
          <p:cNvSpPr/>
          <p:nvPr/>
        </p:nvSpPr>
        <p:spPr>
          <a:xfrm>
            <a:off x="31544941" y="28042599"/>
            <a:ext cx="11168064"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References</a:t>
            </a:r>
            <a:endParaRPr lang="en-US" sz="50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988C4C15-2C03-0B49-95A9-8826656316BF}"/>
              </a:ext>
            </a:extLst>
          </p:cNvPr>
          <p:cNvSpPr txBox="1"/>
          <p:nvPr/>
        </p:nvSpPr>
        <p:spPr>
          <a:xfrm>
            <a:off x="31847883" y="29374778"/>
            <a:ext cx="10562181" cy="1735860"/>
          </a:xfrm>
          <a:prstGeom prst="rect">
            <a:avLst/>
          </a:prstGeom>
          <a:noFill/>
        </p:spPr>
        <p:txBody>
          <a:bodyPr wrap="square" rtlCol="0">
            <a:spAutoFit/>
          </a:bodyPr>
          <a:lstStyle/>
          <a:p>
            <a:pPr indent="-640080"/>
            <a:r>
              <a:rPr lang="en-US" sz="2670" dirty="0" err="1">
                <a:solidFill>
                  <a:srgbClr val="4B4B4B"/>
                </a:solidFill>
                <a:effectLst/>
                <a:latin typeface="Arial" panose="020B0604020202020204" pitchFamily="34" charset="0"/>
                <a:cs typeface="Arial" panose="020B0604020202020204" pitchFamily="34" charset="0"/>
              </a:rPr>
              <a:t>Agresti</a:t>
            </a:r>
            <a:r>
              <a:rPr lang="en-US" sz="2670" dirty="0">
                <a:solidFill>
                  <a:srgbClr val="4B4B4B"/>
                </a:solidFill>
                <a:effectLst/>
                <a:latin typeface="Arial" panose="020B0604020202020204" pitchFamily="34" charset="0"/>
                <a:cs typeface="Arial" panose="020B0604020202020204" pitchFamily="34" charset="0"/>
              </a:rPr>
              <a:t>, Alan. </a:t>
            </a:r>
            <a:r>
              <a:rPr lang="en-US" sz="2670" i="1" dirty="0">
                <a:solidFill>
                  <a:srgbClr val="4B4B4B"/>
                </a:solidFill>
                <a:effectLst/>
                <a:latin typeface="Arial" panose="020B0604020202020204" pitchFamily="34" charset="0"/>
                <a:cs typeface="Arial" panose="020B0604020202020204" pitchFamily="34" charset="0"/>
              </a:rPr>
              <a:t>Analysis of Ordinal Categorical Data</a:t>
            </a:r>
            <a:r>
              <a:rPr lang="en-US" sz="2670" dirty="0">
                <a:solidFill>
                  <a:srgbClr val="4B4B4B"/>
                </a:solidFill>
                <a:effectLst/>
                <a:latin typeface="Arial" panose="020B0604020202020204" pitchFamily="34" charset="0"/>
                <a:cs typeface="Arial" panose="020B0604020202020204" pitchFamily="34" charset="0"/>
              </a:rPr>
              <a:t>. Wiley, 2010. </a:t>
            </a:r>
          </a:p>
          <a:p>
            <a:pPr indent="-457200"/>
            <a:r>
              <a:rPr lang="en-US" sz="2670" dirty="0">
                <a:solidFill>
                  <a:srgbClr val="4B4B4B"/>
                </a:solidFill>
                <a:effectLst/>
                <a:latin typeface="Arial" panose="020B0604020202020204" pitchFamily="34" charset="0"/>
                <a:cs typeface="Arial" panose="020B0604020202020204" pitchFamily="34" charset="0"/>
              </a:rPr>
              <a:t>Funk, Cary, and Alec Tyson. “Lack of Preparedness Among Top 			Reactions Americans Have to Public Health Officials’ COVID-19 	Response.” </a:t>
            </a:r>
            <a:r>
              <a:rPr lang="en-US" sz="2670" i="1" dirty="0">
                <a:solidFill>
                  <a:srgbClr val="4B4B4B"/>
                </a:solidFill>
                <a:effectLst/>
                <a:latin typeface="Arial" panose="020B0604020202020204" pitchFamily="34" charset="0"/>
                <a:cs typeface="Arial" panose="020B0604020202020204" pitchFamily="34" charset="0"/>
              </a:rPr>
              <a:t>Pew Research Center</a:t>
            </a:r>
            <a:r>
              <a:rPr lang="en-US" sz="2670" dirty="0">
                <a:solidFill>
                  <a:srgbClr val="4B4B4B"/>
                </a:solidFill>
                <a:effectLst/>
                <a:latin typeface="Arial" panose="020B0604020202020204" pitchFamily="34" charset="0"/>
                <a:cs typeface="Arial" panose="020B0604020202020204" pitchFamily="34" charset="0"/>
              </a:rPr>
              <a:t>, 5 Oct. 2022, Accessed 2024. </a:t>
            </a:r>
          </a:p>
        </p:txBody>
      </p:sp>
      <p:sp>
        <p:nvSpPr>
          <p:cNvPr id="34" name="TextBox 33">
            <a:extLst>
              <a:ext uri="{FF2B5EF4-FFF2-40B4-BE49-F238E27FC236}">
                <a16:creationId xmlns:a16="http://schemas.microsoft.com/office/drawing/2014/main" id="{A20B555C-CA20-DC4A-9662-ED9977A9ECAE}"/>
              </a:ext>
            </a:extLst>
          </p:cNvPr>
          <p:cNvSpPr txBox="1"/>
          <p:nvPr/>
        </p:nvSpPr>
        <p:spPr>
          <a:xfrm>
            <a:off x="13716000" y="14617357"/>
            <a:ext cx="16463460" cy="11186139"/>
          </a:xfrm>
          <a:prstGeom prst="rect">
            <a:avLst/>
          </a:prstGeom>
          <a:noFill/>
        </p:spPr>
        <p:txBody>
          <a:bodyPr wrap="square" rtlCol="0">
            <a:spAutoFit/>
          </a:bodyPr>
          <a:lstStyle/>
          <a:p>
            <a:pPr algn="just"/>
            <a:r>
              <a:rPr lang="en-US" sz="2670" dirty="0">
                <a:solidFill>
                  <a:srgbClr val="4B4B4B"/>
                </a:solidFill>
                <a:latin typeface="Arial" panose="020B0604020202020204" pitchFamily="34" charset="0"/>
                <a:cs typeface="Arial" panose="020B0604020202020204" pitchFamily="34" charset="0"/>
              </a:rPr>
              <a:t>	We used two proportional odds models and one binary logistic regression model to investigate factors influencing COVID-19 vaccination status, focusing on public confidence in government officials, educational leaders, and scientific authorities, along with demographic factors such as age, religious affiliation, political beliefs, and gender. To address potential collinearity as suggested by </a:t>
            </a:r>
            <a:r>
              <a:rPr lang="en-US" sz="2670" b="1" dirty="0">
                <a:solidFill>
                  <a:srgbClr val="4B4B4B"/>
                </a:solidFill>
                <a:latin typeface="Arial" panose="020B0604020202020204" pitchFamily="34" charset="0"/>
                <a:cs typeface="Arial" panose="020B0604020202020204" pitchFamily="34" charset="0"/>
              </a:rPr>
              <a:t>Figure 2(a)</a:t>
            </a:r>
            <a:r>
              <a:rPr lang="en-US" sz="2670" dirty="0">
                <a:solidFill>
                  <a:srgbClr val="4B4B4B"/>
                </a:solidFill>
                <a:latin typeface="Arial" panose="020B0604020202020204" pitchFamily="34" charset="0"/>
                <a:cs typeface="Arial" panose="020B0604020202020204" pitchFamily="34" charset="0"/>
              </a:rPr>
              <a:t> and </a:t>
            </a:r>
            <a:r>
              <a:rPr lang="en-US" sz="2670" b="1" dirty="0">
                <a:solidFill>
                  <a:srgbClr val="4B4B4B"/>
                </a:solidFill>
                <a:latin typeface="Arial" panose="020B0604020202020204" pitchFamily="34" charset="0"/>
                <a:cs typeface="Arial" panose="020B0604020202020204" pitchFamily="34" charset="0"/>
              </a:rPr>
              <a:t>Figure</a:t>
            </a:r>
            <a:r>
              <a:rPr lang="en-US" sz="2670" dirty="0">
                <a:solidFill>
                  <a:srgbClr val="4B4B4B"/>
                </a:solidFill>
                <a:latin typeface="Arial" panose="020B0604020202020204" pitchFamily="34" charset="0"/>
                <a:cs typeface="Arial" panose="020B0604020202020204" pitchFamily="34" charset="0"/>
              </a:rPr>
              <a:t> </a:t>
            </a:r>
            <a:r>
              <a:rPr lang="en-US" sz="2670" b="1" dirty="0">
                <a:solidFill>
                  <a:srgbClr val="4B4B4B"/>
                </a:solidFill>
                <a:latin typeface="Arial" panose="020B0604020202020204" pitchFamily="34" charset="0"/>
                <a:cs typeface="Arial" panose="020B0604020202020204" pitchFamily="34" charset="0"/>
              </a:rPr>
              <a:t>2(b)</a:t>
            </a:r>
            <a:r>
              <a:rPr lang="en-US" sz="2670" dirty="0">
                <a:solidFill>
                  <a:srgbClr val="4B4B4B"/>
                </a:solidFill>
                <a:latin typeface="Arial" panose="020B0604020202020204" pitchFamily="34" charset="0"/>
                <a:cs typeface="Arial" panose="020B0604020202020204" pitchFamily="34" charset="0"/>
              </a:rPr>
              <a:t>, each model included only one type of confidence variable, enabling us to separately evaluate each confidence factor's impact on vaccination likelihood.</a:t>
            </a:r>
          </a:p>
          <a:p>
            <a:pPr algn="just"/>
            <a:r>
              <a:rPr lang="en-US" sz="2670" dirty="0">
                <a:solidFill>
                  <a:srgbClr val="4B4B4B"/>
                </a:solidFill>
                <a:latin typeface="Arial" panose="020B0604020202020204" pitchFamily="34" charset="0"/>
                <a:cs typeface="Arial" panose="020B0604020202020204" pitchFamily="34" charset="0"/>
              </a:rPr>
              <a:t>	In the first proportional odds model in </a:t>
            </a:r>
            <a:r>
              <a:rPr lang="en-US" sz="2670" b="1" dirty="0">
                <a:solidFill>
                  <a:srgbClr val="4B4B4B"/>
                </a:solidFill>
                <a:latin typeface="Arial" panose="020B0604020202020204" pitchFamily="34" charset="0"/>
                <a:cs typeface="Arial" panose="020B0604020202020204" pitchFamily="34" charset="0"/>
              </a:rPr>
              <a:t>Figure 1(a)</a:t>
            </a:r>
            <a:r>
              <a:rPr lang="en-US" sz="2670" dirty="0">
                <a:solidFill>
                  <a:srgbClr val="4B4B4B"/>
                </a:solidFill>
                <a:latin typeface="Arial" panose="020B0604020202020204" pitchFamily="34" charset="0"/>
                <a:cs typeface="Arial" panose="020B0604020202020204" pitchFamily="34" charset="0"/>
              </a:rPr>
              <a:t>, we analyzed the effect of confidence in government officials on vaccination status. The model revealed that individuals with low or moderate (high) confidence in government officials had greater odds of vaccination compared to those with no confidence, as indicated by the model’s negative coefficients. This association suggests that confidence in government influences individuals’ vaccination decisions. The second proportional odds model in </a:t>
            </a:r>
            <a:r>
              <a:rPr lang="en-US" sz="2670" b="1" dirty="0">
                <a:solidFill>
                  <a:srgbClr val="4B4B4B"/>
                </a:solidFill>
                <a:latin typeface="Arial" panose="020B0604020202020204" pitchFamily="34" charset="0"/>
                <a:cs typeface="Arial" panose="020B0604020202020204" pitchFamily="34" charset="0"/>
              </a:rPr>
              <a:t>Figure 1(b)</a:t>
            </a:r>
            <a:r>
              <a:rPr lang="en-US" sz="2670" dirty="0">
                <a:solidFill>
                  <a:srgbClr val="4B4B4B"/>
                </a:solidFill>
                <a:latin typeface="Arial" panose="020B0604020202020204" pitchFamily="34" charset="0"/>
                <a:cs typeface="Arial" panose="020B0604020202020204" pitchFamily="34" charset="0"/>
              </a:rPr>
              <a:t> examined confidence in educational leaders, showing a clear linear trend: as confidence in these officials increased, so did the likelihood of vaccination. This more consistent trend underscores the positive role that educational trust may play in encouraging vaccination behavior. For the third model shown in </a:t>
            </a:r>
            <a:r>
              <a:rPr lang="en-US" sz="2670" b="1" dirty="0">
                <a:solidFill>
                  <a:srgbClr val="4B4B4B"/>
                </a:solidFill>
                <a:latin typeface="Arial" panose="020B0604020202020204" pitchFamily="34" charset="0"/>
                <a:cs typeface="Arial" panose="020B0604020202020204" pitchFamily="34" charset="0"/>
              </a:rPr>
              <a:t>Figure 1(c)</a:t>
            </a:r>
            <a:r>
              <a:rPr lang="en-US" sz="2670" dirty="0">
                <a:solidFill>
                  <a:srgbClr val="4B4B4B"/>
                </a:solidFill>
                <a:latin typeface="Arial" panose="020B0604020202020204" pitchFamily="34" charset="0"/>
                <a:cs typeface="Arial" panose="020B0604020202020204" pitchFamily="34" charset="0"/>
              </a:rPr>
              <a:t>, we employed a binary logistic regression to assess the effect of confidence in scientific authorities, combining fully and partially vaccinated individuals due to the small size of the partially vaccinated group. This model found confidence in scientific authorities had the strongest impact on vaccination status, with significant negative coefficients across all confidence levels, indicating that higher trust in scientists strongly correlates with vaccination uptake.</a:t>
            </a:r>
          </a:p>
          <a:p>
            <a:pPr algn="just"/>
            <a:r>
              <a:rPr lang="en-US" sz="2670" dirty="0">
                <a:solidFill>
                  <a:srgbClr val="4B4B4B"/>
                </a:solidFill>
                <a:latin typeface="Arial" panose="020B0604020202020204" pitchFamily="34" charset="0"/>
                <a:cs typeface="Arial" panose="020B0604020202020204" pitchFamily="34" charset="0"/>
              </a:rPr>
              <a:t>	Demographic variables across all models provided additional insights. Age was positively associated with vaccination, as older age groups consistently showed higher vaccination rates compared to the youngest group. This finding aligns with our graph shown in </a:t>
            </a:r>
            <a:r>
              <a:rPr lang="en-US" sz="2670" b="1" dirty="0">
                <a:solidFill>
                  <a:srgbClr val="4B4B4B"/>
                </a:solidFill>
                <a:latin typeface="Arial" panose="020B0604020202020204" pitchFamily="34" charset="0"/>
                <a:cs typeface="Arial" panose="020B0604020202020204" pitchFamily="34" charset="0"/>
              </a:rPr>
              <a:t>Figure 2(c)</a:t>
            </a:r>
            <a:r>
              <a:rPr lang="en-US" sz="2670" dirty="0">
                <a:solidFill>
                  <a:srgbClr val="4B4B4B"/>
                </a:solidFill>
                <a:latin typeface="Arial" panose="020B0604020202020204" pitchFamily="34" charset="0"/>
                <a:cs typeface="Arial" panose="020B0604020202020204" pitchFamily="34" charset="0"/>
              </a:rPr>
              <a:t>. Religious affiliation was also significant, with Catholics more likely to be vaccinated than Protestants, while the unaffiliated and other religious groups showed no substantial differences. Political affiliation revealed that Democrats were significantly more likely to get vaccinated than those with no lean, while Republicans exhibited an opposite association. Gender differences were also statistically significant, with men showing a higher likelihood of vaccination compared to women.</a:t>
            </a:r>
          </a:p>
        </p:txBody>
      </p:sp>
      <p:sp>
        <p:nvSpPr>
          <p:cNvPr id="37" name="TextBox 36">
            <a:extLst>
              <a:ext uri="{FF2B5EF4-FFF2-40B4-BE49-F238E27FC236}">
                <a16:creationId xmlns:a16="http://schemas.microsoft.com/office/drawing/2014/main" id="{C019B81A-2BDA-9E42-8B88-1029D21CA5C5}"/>
              </a:ext>
            </a:extLst>
          </p:cNvPr>
          <p:cNvSpPr txBox="1"/>
          <p:nvPr/>
        </p:nvSpPr>
        <p:spPr>
          <a:xfrm>
            <a:off x="1176339" y="1303868"/>
            <a:ext cx="41538524" cy="1446550"/>
          </a:xfrm>
          <a:prstGeom prst="rect">
            <a:avLst/>
          </a:prstGeom>
          <a:noFill/>
        </p:spPr>
        <p:txBody>
          <a:bodyPr wrap="square" rtlCol="0">
            <a:spAutoFit/>
          </a:bodyPr>
          <a:lstStyle/>
          <a:p>
            <a:pPr algn="ctr"/>
            <a:r>
              <a:rPr lang="en-US" sz="8800" b="1" dirty="0">
                <a:solidFill>
                  <a:srgbClr val="4B4B4B"/>
                </a:solidFill>
                <a:latin typeface="Arial" panose="020B0604020202020204" pitchFamily="34" charset="0"/>
                <a:cs typeface="Arial" panose="020B0604020202020204" pitchFamily="34" charset="0"/>
              </a:rPr>
              <a:t>Observational Study on Determinants of COVID-19 Vaccination Uptake</a:t>
            </a:r>
          </a:p>
        </p:txBody>
      </p:sp>
      <p:sp>
        <p:nvSpPr>
          <p:cNvPr id="41" name="TextBox 40">
            <a:extLst>
              <a:ext uri="{FF2B5EF4-FFF2-40B4-BE49-F238E27FC236}">
                <a16:creationId xmlns:a16="http://schemas.microsoft.com/office/drawing/2014/main" id="{E7FFAAC7-1BA2-6644-9A1E-E80ACC2AA279}"/>
              </a:ext>
            </a:extLst>
          </p:cNvPr>
          <p:cNvSpPr txBox="1"/>
          <p:nvPr/>
        </p:nvSpPr>
        <p:spPr>
          <a:xfrm>
            <a:off x="8596424" y="3158568"/>
            <a:ext cx="26872350" cy="1323439"/>
          </a:xfrm>
          <a:prstGeom prst="rect">
            <a:avLst/>
          </a:prstGeom>
          <a:noFill/>
        </p:spPr>
        <p:txBody>
          <a:bodyPr wrap="square" rtlCol="0">
            <a:spAutoFit/>
          </a:bodyPr>
          <a:lstStyle/>
          <a:p>
            <a:pPr algn="ctr"/>
            <a:r>
              <a:rPr lang="en-US" sz="4000" dirty="0">
                <a:solidFill>
                  <a:srgbClr val="4B4B4B"/>
                </a:solidFill>
                <a:latin typeface="Arial" panose="020B0604020202020204" pitchFamily="34" charset="0"/>
                <a:cs typeface="Arial" panose="020B0604020202020204" pitchFamily="34" charset="0"/>
              </a:rPr>
              <a:t>Lavinia Xu</a:t>
            </a:r>
            <a:br>
              <a:rPr lang="en-US" sz="4000" dirty="0">
                <a:solidFill>
                  <a:srgbClr val="4B4B4B"/>
                </a:solidFill>
                <a:latin typeface="Arial" panose="020B0604020202020204" pitchFamily="34" charset="0"/>
                <a:cs typeface="Arial" panose="020B0604020202020204" pitchFamily="34" charset="0"/>
              </a:rPr>
            </a:br>
            <a:r>
              <a:rPr lang="en-US" sz="4000" dirty="0">
                <a:solidFill>
                  <a:srgbClr val="4B4B4B"/>
                </a:solidFill>
                <a:latin typeface="Arial" panose="020B0604020202020204" pitchFamily="34" charset="0"/>
                <a:cs typeface="Arial" panose="020B0604020202020204" pitchFamily="34" charset="0"/>
              </a:rPr>
              <a:t>WASHINGTON UNIVERSITY IN ST. LOUIS</a:t>
            </a:r>
          </a:p>
        </p:txBody>
      </p:sp>
      <p:pic>
        <p:nvPicPr>
          <p:cNvPr id="1026" name="Picture 2">
            <a:extLst>
              <a:ext uri="{FF2B5EF4-FFF2-40B4-BE49-F238E27FC236}">
                <a16:creationId xmlns:a16="http://schemas.microsoft.com/office/drawing/2014/main" id="{C3B4C74D-4A0C-5163-3416-F4E6A26649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1136" y="3335525"/>
            <a:ext cx="4611037" cy="1118945"/>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84CA4541-9E55-6589-5D30-7F8BA2B6B1B7}"/>
              </a:ext>
            </a:extLst>
          </p:cNvPr>
          <p:cNvSpPr/>
          <p:nvPr/>
        </p:nvSpPr>
        <p:spPr>
          <a:xfrm>
            <a:off x="31529081" y="15763443"/>
            <a:ext cx="11168064" cy="7051899"/>
          </a:xfrm>
          <a:prstGeom prst="rect">
            <a:avLst/>
          </a:prstGeom>
          <a:no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6"/>
          </a:p>
        </p:txBody>
      </p:sp>
      <p:sp>
        <p:nvSpPr>
          <p:cNvPr id="43" name="Rectangle 42">
            <a:extLst>
              <a:ext uri="{FF2B5EF4-FFF2-40B4-BE49-F238E27FC236}">
                <a16:creationId xmlns:a16="http://schemas.microsoft.com/office/drawing/2014/main" id="{4F9A7AE2-3B40-62DA-6DFE-DE43D653C599}"/>
              </a:ext>
            </a:extLst>
          </p:cNvPr>
          <p:cNvSpPr/>
          <p:nvPr/>
        </p:nvSpPr>
        <p:spPr>
          <a:xfrm>
            <a:off x="31564514" y="15769980"/>
            <a:ext cx="11168064" cy="1170215"/>
          </a:xfrm>
          <a:prstGeom prst="rect">
            <a:avLst/>
          </a:prstGeom>
          <a:solidFill>
            <a:srgbClr val="4B4B4B"/>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Arial" panose="020B0604020202020204" pitchFamily="34" charset="0"/>
                <a:cs typeface="Arial" panose="020B0604020202020204" pitchFamily="34" charset="0"/>
              </a:rPr>
              <a:t>Future Research</a:t>
            </a:r>
            <a:endParaRPr lang="en-US" sz="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661FD514-9915-297B-CB8C-C5389EDA6746}"/>
              </a:ext>
            </a:extLst>
          </p:cNvPr>
          <p:cNvSpPr txBox="1"/>
          <p:nvPr/>
        </p:nvSpPr>
        <p:spPr>
          <a:xfrm>
            <a:off x="31832023" y="17235213"/>
            <a:ext cx="10562180" cy="4792081"/>
          </a:xfrm>
          <a:prstGeom prst="rect">
            <a:avLst/>
          </a:prstGeom>
          <a:noFill/>
        </p:spPr>
        <p:txBody>
          <a:bodyPr wrap="square" rtlCol="0">
            <a:spAutoFit/>
          </a:bodyPr>
          <a:lstStyle/>
          <a:p>
            <a:pPr algn="just"/>
            <a:r>
              <a:rPr lang="en-US" sz="2670" dirty="0">
                <a:solidFill>
                  <a:srgbClr val="4B4B4B"/>
                </a:solidFill>
                <a:latin typeface="Arial" panose="020B0604020202020204" pitchFamily="34" charset="0"/>
                <a:cs typeface="Arial" panose="020B0604020202020204" pitchFamily="34" charset="0"/>
              </a:rPr>
              <a:t>	In future research, I aim to investigate the underlying causes of varying confidence levels in scientific and governmental authorities across different demographic and political groups. By examining the effects of media exposure, education levels, and community engage-</a:t>
            </a:r>
            <a:r>
              <a:rPr lang="en-US" sz="2670" dirty="0" err="1">
                <a:solidFill>
                  <a:srgbClr val="4B4B4B"/>
                </a:solidFill>
                <a:latin typeface="Arial" panose="020B0604020202020204" pitchFamily="34" charset="0"/>
                <a:cs typeface="Arial" panose="020B0604020202020204" pitchFamily="34" charset="0"/>
              </a:rPr>
              <a:t>ment</a:t>
            </a:r>
            <a:r>
              <a:rPr lang="en-US" sz="2670" dirty="0">
                <a:solidFill>
                  <a:srgbClr val="4B4B4B"/>
                </a:solidFill>
                <a:latin typeface="Arial" panose="020B0604020202020204" pitchFamily="34" charset="0"/>
                <a:cs typeface="Arial" panose="020B0604020202020204" pitchFamily="34" charset="0"/>
              </a:rPr>
              <a:t>, I hope that I can gain a clearer understanding on how trust is developed and sustained. Additionally, I plan to conduct longitudinal studies to observe shifts in confidence over time, which may reveal insights into sustaining public trust in health initiatives. Exploring the effectiveness of targeted interventions, such as community-driven health campaigns, may also provide strategies for enhancing vaccine acceptance in diverse communities.</a:t>
            </a:r>
          </a:p>
        </p:txBody>
      </p:sp>
      <p:sp>
        <p:nvSpPr>
          <p:cNvPr id="1027" name="TextBox 1026">
            <a:extLst>
              <a:ext uri="{FF2B5EF4-FFF2-40B4-BE49-F238E27FC236}">
                <a16:creationId xmlns:a16="http://schemas.microsoft.com/office/drawing/2014/main" id="{3697C81F-7CF5-C514-3588-0B1333ADB8C8}"/>
              </a:ext>
            </a:extLst>
          </p:cNvPr>
          <p:cNvSpPr txBox="1"/>
          <p:nvPr/>
        </p:nvSpPr>
        <p:spPr>
          <a:xfrm>
            <a:off x="13859902" y="13799613"/>
            <a:ext cx="4982885" cy="369332"/>
          </a:xfrm>
          <a:prstGeom prst="rect">
            <a:avLst/>
          </a:prstGeom>
          <a:noFill/>
        </p:spPr>
        <p:txBody>
          <a:bodyPr wrap="square" rtlCol="0">
            <a:spAutoFit/>
          </a:bodyPr>
          <a:lstStyle/>
          <a:p>
            <a:pPr algn="ctr"/>
            <a:r>
              <a:rPr lang="en-US" dirty="0">
                <a:solidFill>
                  <a:srgbClr val="4B4B4B"/>
                </a:solidFill>
                <a:latin typeface="Arial" panose="020B0604020202020204" pitchFamily="34" charset="0"/>
                <a:cs typeface="Arial" panose="020B0604020202020204" pitchFamily="34" charset="0"/>
              </a:rPr>
              <a:t>Figure 1(a). Ordinal Model with CONF_GOV</a:t>
            </a:r>
          </a:p>
        </p:txBody>
      </p:sp>
      <p:sp>
        <p:nvSpPr>
          <p:cNvPr id="70" name="TextBox 69">
            <a:extLst>
              <a:ext uri="{FF2B5EF4-FFF2-40B4-BE49-F238E27FC236}">
                <a16:creationId xmlns:a16="http://schemas.microsoft.com/office/drawing/2014/main" id="{F27BE39A-0E3C-E183-7673-BF5C2B531FEF}"/>
              </a:ext>
            </a:extLst>
          </p:cNvPr>
          <p:cNvSpPr txBox="1"/>
          <p:nvPr/>
        </p:nvSpPr>
        <p:spPr>
          <a:xfrm>
            <a:off x="19537600" y="13799613"/>
            <a:ext cx="4810198"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Figure 1(b). Ordinal Model with CONF_EDU</a:t>
            </a:r>
          </a:p>
        </p:txBody>
      </p:sp>
      <p:sp>
        <p:nvSpPr>
          <p:cNvPr id="71" name="TextBox 70">
            <a:extLst>
              <a:ext uri="{FF2B5EF4-FFF2-40B4-BE49-F238E27FC236}">
                <a16:creationId xmlns:a16="http://schemas.microsoft.com/office/drawing/2014/main" id="{FAFC6789-E9F1-D4B0-4E3A-9D348FABFAE6}"/>
              </a:ext>
            </a:extLst>
          </p:cNvPr>
          <p:cNvSpPr txBox="1"/>
          <p:nvPr/>
        </p:nvSpPr>
        <p:spPr>
          <a:xfrm>
            <a:off x="24812590" y="13805255"/>
            <a:ext cx="5424745" cy="369332"/>
          </a:xfrm>
          <a:prstGeom prst="rect">
            <a:avLst/>
          </a:prstGeom>
          <a:noFill/>
        </p:spPr>
        <p:txBody>
          <a:bodyPr wrap="square" rtlCol="0">
            <a:spAutoFit/>
          </a:bodyPr>
          <a:lstStyle/>
          <a:p>
            <a:pPr algn="ctr"/>
            <a:r>
              <a:rPr lang="en-US" dirty="0">
                <a:solidFill>
                  <a:srgbClr val="4B4B4B"/>
                </a:solidFill>
                <a:latin typeface="Arial" panose="020B0604020202020204" pitchFamily="34" charset="0"/>
                <a:cs typeface="Arial" panose="020B0604020202020204" pitchFamily="34" charset="0"/>
              </a:rPr>
              <a:t>Figure 1(c). Logistic Regression with CONF_SCI</a:t>
            </a:r>
          </a:p>
        </p:txBody>
      </p:sp>
      <p:sp>
        <p:nvSpPr>
          <p:cNvPr id="72" name="TextBox 71">
            <a:extLst>
              <a:ext uri="{FF2B5EF4-FFF2-40B4-BE49-F238E27FC236}">
                <a16:creationId xmlns:a16="http://schemas.microsoft.com/office/drawing/2014/main" id="{F214B14A-A69C-FC37-852C-71E822591674}"/>
              </a:ext>
            </a:extLst>
          </p:cNvPr>
          <p:cNvSpPr txBox="1"/>
          <p:nvPr/>
        </p:nvSpPr>
        <p:spPr>
          <a:xfrm>
            <a:off x="13685446" y="30807866"/>
            <a:ext cx="4982885" cy="369332"/>
          </a:xfrm>
          <a:prstGeom prst="rect">
            <a:avLst/>
          </a:prstGeom>
          <a:noFill/>
        </p:spPr>
        <p:txBody>
          <a:bodyPr wrap="square" rtlCol="0">
            <a:spAutoFit/>
          </a:bodyPr>
          <a:lstStyle/>
          <a:p>
            <a:pPr algn="ctr"/>
            <a:r>
              <a:rPr lang="en-US" dirty="0">
                <a:solidFill>
                  <a:srgbClr val="4B4B4B"/>
                </a:solidFill>
                <a:latin typeface="Arial" panose="020B0604020202020204" pitchFamily="34" charset="0"/>
                <a:cs typeface="Arial" panose="020B0604020202020204" pitchFamily="34" charset="0"/>
              </a:rPr>
              <a:t>Figure 2(a)</a:t>
            </a:r>
          </a:p>
        </p:txBody>
      </p:sp>
      <p:sp>
        <p:nvSpPr>
          <p:cNvPr id="73" name="TextBox 72">
            <a:extLst>
              <a:ext uri="{FF2B5EF4-FFF2-40B4-BE49-F238E27FC236}">
                <a16:creationId xmlns:a16="http://schemas.microsoft.com/office/drawing/2014/main" id="{3832BD1C-DD70-BACC-C651-E3685B6D8BAE}"/>
              </a:ext>
            </a:extLst>
          </p:cNvPr>
          <p:cNvSpPr txBox="1"/>
          <p:nvPr/>
        </p:nvSpPr>
        <p:spPr>
          <a:xfrm>
            <a:off x="24010692" y="30807866"/>
            <a:ext cx="4982885" cy="369332"/>
          </a:xfrm>
          <a:prstGeom prst="rect">
            <a:avLst/>
          </a:prstGeom>
          <a:noFill/>
        </p:spPr>
        <p:txBody>
          <a:bodyPr wrap="square" rtlCol="0">
            <a:spAutoFit/>
          </a:bodyPr>
          <a:lstStyle/>
          <a:p>
            <a:pPr algn="ctr"/>
            <a:r>
              <a:rPr lang="en-US" dirty="0">
                <a:solidFill>
                  <a:srgbClr val="4B4B4B"/>
                </a:solidFill>
                <a:latin typeface="Arial" panose="020B0604020202020204" pitchFamily="34" charset="0"/>
                <a:cs typeface="Arial" panose="020B0604020202020204" pitchFamily="34" charset="0"/>
              </a:rPr>
              <a:t>Figure 2(c)</a:t>
            </a:r>
          </a:p>
        </p:txBody>
      </p:sp>
      <p:sp>
        <p:nvSpPr>
          <p:cNvPr id="74" name="TextBox 73">
            <a:extLst>
              <a:ext uri="{FF2B5EF4-FFF2-40B4-BE49-F238E27FC236}">
                <a16:creationId xmlns:a16="http://schemas.microsoft.com/office/drawing/2014/main" id="{D8F6964E-FEAF-5C88-3E61-98D83F0689D1}"/>
              </a:ext>
            </a:extLst>
          </p:cNvPr>
          <p:cNvSpPr txBox="1"/>
          <p:nvPr/>
        </p:nvSpPr>
        <p:spPr>
          <a:xfrm>
            <a:off x="18726719" y="30807866"/>
            <a:ext cx="4982885" cy="369332"/>
          </a:xfrm>
          <a:prstGeom prst="rect">
            <a:avLst/>
          </a:prstGeom>
          <a:noFill/>
        </p:spPr>
        <p:txBody>
          <a:bodyPr wrap="square" rtlCol="0">
            <a:spAutoFit/>
          </a:bodyPr>
          <a:lstStyle/>
          <a:p>
            <a:pPr algn="ctr"/>
            <a:r>
              <a:rPr lang="en-US" dirty="0">
                <a:solidFill>
                  <a:srgbClr val="4B4B4B"/>
                </a:solidFill>
                <a:latin typeface="Arial" panose="020B0604020202020204" pitchFamily="34" charset="0"/>
                <a:cs typeface="Arial" panose="020B0604020202020204" pitchFamily="34" charset="0"/>
              </a:rPr>
              <a:t>Figure 2(b)</a:t>
            </a:r>
          </a:p>
        </p:txBody>
      </p:sp>
    </p:spTree>
    <p:extLst>
      <p:ext uri="{BB962C8B-B14F-4D97-AF65-F5344CB8AC3E}">
        <p14:creationId xmlns:p14="http://schemas.microsoft.com/office/powerpoint/2010/main" val="1743280477"/>
      </p:ext>
    </p:extLst>
  </p:cSld>
  <p:clrMapOvr>
    <a:masterClrMapping/>
  </p:clrMapOvr>
</p:sld>
</file>

<file path=ppt/theme/theme1.xml><?xml version="1.0" encoding="utf-8"?>
<a:theme xmlns:a="http://schemas.openxmlformats.org/drawingml/2006/main" name="Office Theme">
  <a:themeElements>
    <a:clrScheme name="Custom 2">
      <a:dk1>
        <a:srgbClr val="173E3A"/>
      </a:dk1>
      <a:lt1>
        <a:srgbClr val="FFFFFF"/>
      </a:lt1>
      <a:dk2>
        <a:srgbClr val="172751"/>
      </a:dk2>
      <a:lt2>
        <a:srgbClr val="E7E6E6"/>
      </a:lt2>
      <a:accent1>
        <a:srgbClr val="005F85"/>
      </a:accent1>
      <a:accent2>
        <a:srgbClr val="D15F27"/>
      </a:accent2>
      <a:accent3>
        <a:srgbClr val="E1C3AC"/>
      </a:accent3>
      <a:accent4>
        <a:srgbClr val="F8BE15"/>
      </a:accent4>
      <a:accent5>
        <a:srgbClr val="67C8C7"/>
      </a:accent5>
      <a:accent6>
        <a:srgbClr val="789B49"/>
      </a:accent6>
      <a:hlink>
        <a:srgbClr val="0563C1"/>
      </a:hlink>
      <a:folHlink>
        <a:srgbClr val="612466"/>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TotalTime>
  <Words>1350</Words>
  <Application>Microsoft Macintosh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Jose-Edwards, Diana</dc:creator>
  <cp:lastModifiedBy>Xu, Lavinia</cp:lastModifiedBy>
  <cp:revision>12</cp:revision>
  <cp:lastPrinted>2024-10-28T03:15:30Z</cp:lastPrinted>
  <dcterms:created xsi:type="dcterms:W3CDTF">2019-07-18T21:25:03Z</dcterms:created>
  <dcterms:modified xsi:type="dcterms:W3CDTF">2024-10-28T07:58:57Z</dcterms:modified>
</cp:coreProperties>
</file>